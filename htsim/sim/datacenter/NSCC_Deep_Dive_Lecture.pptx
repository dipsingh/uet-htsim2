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4D8"/>
                </a:solidFill>
                <a:latin typeface="Calibri"/>
              </a:defRPr>
            </a:pPr>
            <a:r>
              <a:t>NSCC: Network-aware Smart</a:t>
            </a:r>
            <a:br/>
            <a:r>
              <a:t>Congestion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A Deep Dive into Datacenter Congestion Control for Multi-Path Fabrics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Calibri"/>
              </a:defRPr>
            </a:pPr>
            <a:r>
              <a:t>Based on UET / SMaRTT-REPS  |  htsim2 Simulator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D8"/>
                </a:solidFill>
                <a:latin typeface="Calibri"/>
              </a:defRPr>
            </a:pPr>
            <a:r>
              <a:t>Lecture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b="1" sz="2200">
                <a:solidFill>
                  <a:srgbClr val="00B4D8"/>
                </a:solidFill>
              </a:rPr>
              <a:t>  1.  </a:t>
            </a:r>
            <a:r>
              <a:rPr sz="2200">
                <a:solidFill>
                  <a:srgbClr val="FFFFFF"/>
                </a:solidFill>
              </a:rPr>
              <a:t>The Problem: Why Datacenter CC is Hard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b="1" sz="2200">
                <a:solidFill>
                  <a:srgbClr val="00B4D8"/>
                </a:solidFill>
              </a:rPr>
              <a:t>  2.  </a:t>
            </a:r>
            <a:r>
              <a:rPr sz="2200">
                <a:solidFill>
                  <a:srgbClr val="FFFFFF"/>
                </a:solidFill>
              </a:rPr>
              <a:t>NSCC Mental Model: Two Signals, Four Quadrants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b="1" sz="2200">
                <a:solidFill>
                  <a:srgbClr val="00B4D8"/>
                </a:solidFill>
              </a:rPr>
              <a:t>  3.  </a:t>
            </a:r>
            <a:r>
              <a:rPr sz="2200">
                <a:solidFill>
                  <a:srgbClr val="FFFFFF"/>
                </a:solidFill>
              </a:rPr>
              <a:t>Window Management: Increase &amp; Decrease Laws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b="1" sz="2200">
                <a:solidFill>
                  <a:srgbClr val="00B4D8"/>
                </a:solidFill>
              </a:rPr>
              <a:t>  4.  </a:t>
            </a:r>
            <a:r>
              <a:rPr sz="2200">
                <a:solidFill>
                  <a:srgbClr val="FFFFFF"/>
                </a:solidFill>
              </a:rPr>
              <a:t>Delay Measurement &amp; Filtering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b="1" sz="2200">
                <a:solidFill>
                  <a:srgbClr val="00B4D8"/>
                </a:solidFill>
              </a:rPr>
              <a:t>  5.  </a:t>
            </a:r>
            <a:r>
              <a:rPr sz="2200">
                <a:solidFill>
                  <a:srgbClr val="FFFFFF"/>
                </a:solidFill>
              </a:rPr>
              <a:t>Quick-Adapt: The Emergency Brake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b="1" sz="2200">
                <a:solidFill>
                  <a:srgbClr val="00B4D8"/>
                </a:solidFill>
              </a:rPr>
              <a:t>  6.  </a:t>
            </a:r>
            <a:r>
              <a:rPr sz="2200">
                <a:solidFill>
                  <a:srgbClr val="FFFFFF"/>
                </a:solidFill>
              </a:rPr>
              <a:t>Packet Spraying &amp; Multi-Path Load Balancing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b="1" sz="2200">
                <a:solidFill>
                  <a:srgbClr val="00B4D8"/>
                </a:solidFill>
              </a:rPr>
              <a:t>  7.  </a:t>
            </a:r>
            <a:r>
              <a:rPr sz="2200">
                <a:solidFill>
                  <a:srgbClr val="FFFFFF"/>
                </a:solidFill>
              </a:rPr>
              <a:t>Parameter Scaling Across Network Speeds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b="1" sz="2200">
                <a:solidFill>
                  <a:srgbClr val="00B4D8"/>
                </a:solidFill>
              </a:rPr>
              <a:t>  8.  </a:t>
            </a:r>
            <a:r>
              <a:rPr sz="2200">
                <a:solidFill>
                  <a:srgbClr val="FFFFFF"/>
                </a:solidFill>
              </a:rPr>
              <a:t>SLEEK Loss Recovery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b="1" sz="2200">
                <a:solidFill>
                  <a:srgbClr val="00B4D8"/>
                </a:solidFill>
              </a:rPr>
              <a:t>  9.  </a:t>
            </a:r>
            <a:r>
              <a:rPr sz="2200">
                <a:solidFill>
                  <a:srgbClr val="FFFFFF"/>
                </a:solidFill>
              </a:rPr>
              <a:t>NSCC vs TCP Cubic vs DCQCN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b="1" sz="2200">
                <a:solidFill>
                  <a:srgbClr val="00B4D8"/>
                </a:solidFill>
              </a:rPr>
              <a:t>  10.  </a:t>
            </a:r>
            <a:r>
              <a:rPr sz="2200">
                <a:solidFill>
                  <a:srgbClr val="FFFFFF"/>
                </a:solidFill>
              </a:rPr>
              <a:t>Simulation Results &amp; Validation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b="1" sz="2200">
                <a:solidFill>
                  <a:srgbClr val="00B4D8"/>
                </a:solidFill>
              </a:rPr>
              <a:t>  11.  </a:t>
            </a:r>
            <a:r>
              <a:rPr sz="2200">
                <a:solidFill>
                  <a:srgbClr val="FFFFFF"/>
                </a:solidFill>
              </a:rPr>
              <a:t>Key Takeaways &amp; Design Philosophy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Calibri"/>
              </a:defRPr>
            </a:pPr>
            <a:r>
              <a:t>Why traditional congestion control breaks in modern datacenters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The Datacenter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200" b="1">
                <a:solidFill>
                  <a:srgbClr val="FFD166"/>
                </a:solidFill>
                <a:latin typeface="Calibri"/>
              </a:defRPr>
            </a:pPr>
            <a:r>
              <a:t>Multi-path fabrics (ECMP, spray)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Packets take different paths → routine reordering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TCP's 3-DupACK loss detection fails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200" b="1">
                <a:solidFill>
                  <a:srgbClr val="FFD166"/>
                </a:solidFill>
                <a:latin typeface="Calibri"/>
              </a:defRPr>
            </a:pPr>
            <a:r>
              <a:t>Shallow buffers (10-50 us)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Switch memory is expensive silicon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Millisecond-scale TCP RTOs are far too slow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200" b="1">
                <a:solidFill>
                  <a:srgbClr val="FFD166"/>
                </a:solidFill>
                <a:latin typeface="Calibri"/>
              </a:defRPr>
            </a:pPr>
            <a:r>
              <a:t>Microsecond-scale RTTs (5-20 us)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BDP ≈ 150 KB at 100 Gbps, 12 us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Must react in ~1 RTT, not 100s of ms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200" b="1">
                <a:solidFill>
                  <a:srgbClr val="FFD166"/>
                </a:solidFill>
                <a:latin typeface="Calibri"/>
              </a:defRPr>
            </a:pPr>
            <a:r>
              <a:t>Incast: 32 senders → 1 receiver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Queue builds in &lt; 1 us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Need emergency brake, not gentle backoff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Protocol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onsolas"/>
              </a:defRPr>
            </a:pPr>
            <a:r>
              <a:t>  Feature         TCP Cubic   DCQCN       NSCC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onsolas"/>
              </a:defRPr>
            </a:pPr>
            <a:r>
              <a:t>  ─────────────── ─────────── ─────────── ───────────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onsolas"/>
              </a:defRPr>
            </a:pPr>
            <a:r>
              <a:t>  Signal          Loss        ECN+Rate    Delay+ECN  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onsolas"/>
              </a:defRPr>
            </a:pPr>
            <a:r>
              <a:t>  Multi-path      No          No          Native     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onsolas"/>
              </a:defRPr>
            </a:pPr>
            <a:r>
              <a:t>  Decrease        30% cut     Rate steps  Proportional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onsolas"/>
              </a:defRPr>
            </a:pPr>
            <a:r>
              <a:t>  Recovery        3-DupACK    Go-back-N   SLEEK probe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onsolas"/>
              </a:defRPr>
            </a:pPr>
            <a:r>
              <a:t>  Response time   ~RTT        55 us timer Per-ACK    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onsolas"/>
              </a:defRPr>
            </a:pPr>
            <a:r>
              <a:t>  Incast handling Poor        Timer-based Quick-Adapt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2. NSCC Core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Calibri"/>
              </a:defRPr>
            </a:pPr>
            <a:r>
              <a:t>Two signals × two states = four quadrants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NSCC's Two Congestion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FF9900"/>
                </a:solidFill>
                <a:latin typeface="Calibri"/>
              </a:defRPr>
            </a:pPr>
            <a:r>
              <a:t>Signal 1: Queue Delay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qdelay = raw_RTT - base_RTT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Measures excess time in switch queues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Continuous signal: how far from target?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Compared against target_Qdelay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FF9900"/>
                </a:solidFill>
                <a:latin typeface="Calibri"/>
              </a:defRPr>
            </a:pPr>
            <a:r>
              <a:t>Signal 2: ECN / Trimming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Switches mark packets when queue &gt; threshold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Trimming: payload stripped, header forwarded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Binary signal: was the network stressed?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Receiver echoes back to sender in 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Bef>
                <a:spcPts val="800"/>
              </a:spcBef>
              <a:defRPr sz="2600" b="1">
                <a:solidFill>
                  <a:srgbClr val="00B4D8"/>
                </a:solidFill>
                <a:latin typeface="Calibri"/>
              </a:defRPr>
            </a:pPr>
            <a:r>
              <a:t>Key Insight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800"/>
              </a:spcBef>
              <a:defRPr sz="2200" b="1">
                <a:solidFill>
                  <a:srgbClr val="FFD166"/>
                </a:solidFill>
                <a:latin typeface="Calibri"/>
              </a:defRPr>
            </a:pPr>
            <a:r>
              <a:t>Delay tells you HOW MUCH</a:t>
            </a:r>
          </a:p>
          <a:p>
            <a:pPr algn="ctr">
              <a:spcBef>
                <a:spcPts val="200"/>
              </a:spcBef>
              <a:defRPr sz="2200" b="0">
                <a:solidFill>
                  <a:srgbClr val="FFD166"/>
                </a:solidFill>
                <a:latin typeface="Calibri"/>
              </a:defRPr>
            </a:pPr>
            <a:r>
              <a:t>the network is congested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800"/>
              </a:spcBef>
              <a:defRPr sz="2200" b="1">
                <a:solidFill>
                  <a:srgbClr val="06D6A0"/>
                </a:solidFill>
                <a:latin typeface="Calibri"/>
              </a:defRPr>
            </a:pPr>
            <a:r>
              <a:t>ECN/Trim tells you WHERE</a:t>
            </a:r>
          </a:p>
          <a:p>
            <a:pPr algn="ctr">
              <a:spcBef>
                <a:spcPts val="200"/>
              </a:spcBef>
              <a:defRPr sz="2200" b="0">
                <a:solidFill>
                  <a:srgbClr val="06D6A0"/>
                </a:solidFill>
                <a:latin typeface="Calibri"/>
              </a:defRPr>
            </a:pPr>
            <a:r>
              <a:t>the congestion is happening</a:t>
            </a:r>
          </a:p>
          <a:p>
            <a:pPr algn="l">
              <a:spcBef>
                <a:spcPts val="12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8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Together they give magnitude + location</a:t>
            </a:r>
          </a:p>
          <a:p>
            <a:pPr algn="ctr">
              <a:spcBef>
                <a:spcPts val="2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→ proportional response, not binary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The Four Quadrants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                     No Trim (ACK)                                       Trim (NACK / ECN)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BBBBCC"/>
                </a:solidFill>
                <a:latin typeface="Calibri"/>
              </a:defRPr>
            </a:pPr>
            <a:r>
              <a:t>Delay &lt;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BBBBCC"/>
                </a:solidFill>
                <a:latin typeface="Calibri"/>
              </a:defRPr>
            </a:pPr>
            <a:r>
              <a:t>Delay ≥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645920"/>
            <a:ext cx="4114800" cy="201168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Q1: Proportional Increase</a:t>
            </a:r>
          </a:p>
          <a:p>
            <a:pPr algn="ctr"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Network has spare capacity</a:t>
            </a:r>
            <a:br/>
            <a:br/>
            <a:r>
              <a:t>inc += α × acked × (target − delay)</a:t>
            </a:r>
            <a:br/>
            <a:br/>
            <a:r>
              <a:t>Bigger gap → faster ramp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645920"/>
            <a:ext cx="4114800" cy="2011680"/>
          </a:xfrm>
          <a:prstGeom prst="round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Q3: NOOP (Path Switch)</a:t>
            </a:r>
          </a:p>
          <a:p>
            <a:pPr algn="ctr"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Trim but delay is low?</a:t>
            </a:r>
            <a:br/>
            <a:r>
              <a:t>Wrong path, not congestion</a:t>
            </a:r>
            <a:br/>
            <a:br/>
            <a:r>
              <a:t>No CWND change</a:t>
            </a:r>
            <a:br/>
            <a:r>
              <a:t>Steer to different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840480"/>
            <a:ext cx="4114800" cy="2011680"/>
          </a:xfrm>
          <a:prstGeom prst="round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Q0: Fair Increase</a:t>
            </a:r>
          </a:p>
          <a:p>
            <a:pPr algn="ctr"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Queues building, but no trim yet</a:t>
            </a:r>
            <a:br/>
            <a:br/>
            <a:r>
              <a:t>inc += fi × acked</a:t>
            </a:r>
            <a:br/>
            <a:r>
              <a:t>(fi = 5 × MSS × scale)</a:t>
            </a:r>
            <a:br/>
            <a:br/>
            <a:r>
              <a:t>Conservative, ensures fairness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840480"/>
            <a:ext cx="4114800" cy="2011680"/>
          </a:xfrm>
          <a:prstGeom prst="roundRect">
            <a:avLst/>
          </a:prstGeom>
          <a:solidFill>
            <a:srgbClr val="8B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Q2: Multiplicative Decrease</a:t>
            </a:r>
          </a:p>
          <a:p>
            <a:pPr algn="ctr"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Active congestion confirmed</a:t>
            </a:r>
            <a:br/>
            <a:br/>
            <a:r>
              <a:t>cwnd × (1 − γ × (delay−target)/delay)</a:t>
            </a:r>
            <a:br/>
            <a:br/>
            <a:r>
              <a:t>γ = 0.8, max 50% cut</a:t>
            </a:r>
            <a:br/>
            <a:r>
              <a:t>Rate-limited: once per RTT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3. Window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Calibri"/>
              </a:defRPr>
            </a:pPr>
            <a:r>
              <a:t>Four increase mechanisms, one proportional decrease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Four Increase Mechanisms (Fastest → Slowest)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76F"/>
                </a:solidFill>
                <a:latin typeface="Calibri"/>
              </a:defRPr>
            </a:pPr>
            <a:r>
              <a:t>Fast Increase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cwnd += acked × 0.25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When: delay &lt; 1 μs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2801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Cold-start bootstrap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~25% cwnd growth per RTT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97479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900"/>
                </a:solidFill>
                <a:latin typeface="Calibri"/>
              </a:defRPr>
            </a:pPr>
            <a:r>
              <a:t>Proportional Increase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inc += α × acked × (target − delay)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When: Q1: no trim, delay &lt;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6517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Capacity seeking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Scales with headroom to target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D6A0"/>
                </a:solidFill>
                <a:latin typeface="Calibri"/>
              </a:defRPr>
            </a:pPr>
            <a:r>
              <a:t>Fair Increase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inc += 5 × MSS × acked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When: Q0: no trim, delay ≥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023359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Fair convergence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Constant per-ACK, like Reno's AI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0E0EF"/>
                </a:solidFill>
                <a:latin typeface="Calibri"/>
              </a:defRPr>
            </a:pPr>
            <a:r>
              <a:t>Eta (η) Liveness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cwnd += 0.15 × MSS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When: Every RTT (periodic)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394959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Prevent starvation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Tiny floor: always make progress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Proportional Decrease &amp; Fulfill Adjustment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EF476F"/>
                </a:solidFill>
                <a:latin typeface="Calibri"/>
              </a:defRPr>
            </a:pPr>
            <a:r>
              <a:t>Multiplicative Decrease (Q2)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cwnd × max(1 − γ × (delay−target)/delay, 0.5)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γ = 0.8 — aggressive but bounded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Never cuts more than 50% in one step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Rate-limited: at most once per base_RTT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Uses avg_delay (EWMA), not instantaneous</a:t>
            </a:r>
          </a:p>
          <a:p>
            <a:pPr algn="l">
              <a:spcBef>
                <a:spcPts val="12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000" b="1">
                <a:solidFill>
                  <a:srgbClr val="FFD166"/>
                </a:solidFill>
                <a:latin typeface="Calibri"/>
              </a:defRPr>
            </a:pPr>
            <a:r>
              <a:t>Proportional to severity: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Delay barely above target → small cut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Delay 2× target → large cut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At equilibrium: (delay−target)/delay →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06D6A0"/>
                </a:solidFill>
                <a:latin typeface="Calibri"/>
              </a:defRPr>
            </a:pPr>
            <a:r>
              <a:t>Fulfill Adjustment (Batched)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Increases aren't applied per-ACK.</a:t>
            </a:r>
          </a:p>
          <a:p>
            <a:pPr algn="l">
              <a:spcBef>
                <a:spcPts val="2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They accumulate in _inc_bytes, then: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cwnd += _inc_bytes / _cwnd + η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000" b="1">
                <a:solidFill>
                  <a:srgbClr val="FFD166"/>
                </a:solidFill>
                <a:latin typeface="Calibri"/>
              </a:defRPr>
            </a:pPr>
            <a:r>
              <a:t>Triggered when: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Byte trigger: received &gt; 8 × MTU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OR time trigger: elapsed &gt; 1 RTT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000" b="1">
                <a:solidFill>
                  <a:srgbClr val="FFD166"/>
                </a:solidFill>
                <a:latin typeface="Calibri"/>
              </a:defRPr>
            </a:pPr>
            <a:r>
              <a:t>Division by cwnd is key: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Small window → large per-byte increase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Large window → small per-byte increase</a:t>
            </a:r>
          </a:p>
          <a:p>
            <a:pPr>
              <a:spcBef>
                <a:spcPts val="400"/>
              </a:spcBef>
              <a:defRPr sz="1800" b="0">
                <a:solidFill>
                  <a:srgbClr val="06D6A0"/>
                </a:solidFill>
                <a:latin typeface="Calibri"/>
              </a:defRPr>
            </a:pPr>
            <a:r>
              <a:t>→ Flows converge to equal share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4. Delay Measurement &amp;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Calibri"/>
              </a:defRPr>
            </a:pPr>
            <a:r>
              <a:t>The thermometer that drives every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Measuring Queue Delay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FF9900"/>
                </a:solidFill>
                <a:latin typeface="Calibri"/>
              </a:defRPr>
            </a:pPr>
            <a:r>
              <a:t>Base RTT: The Zero Point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Minimum RTT observed by the flow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Represents pure propagation delay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Monotonic decrease refinement: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if raw_rtt &lt; base_rtt:</a:t>
            </a:r>
            <a:br/>
            <a:r>
              <a:t>      base_rtt = raw_rtt</a:t>
            </a:r>
          </a:p>
          <a:p>
            <a:pPr algn="l">
              <a:spcBef>
                <a:spcPts val="12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400" b="1">
                <a:solidFill>
                  <a:srgbClr val="FF9900"/>
                </a:solidFill>
                <a:latin typeface="Calibri"/>
              </a:defRPr>
            </a:pPr>
            <a:r>
              <a:t>Queue Delay Extraction</a:t>
            </a:r>
          </a:p>
          <a:p>
            <a:pPr algn="l">
              <a:spcBef>
                <a:spcPts val="400"/>
              </a:spcBef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qdelay = raw_rtt − base_rtt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Always ≥ 0 (by construction)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This is what NSCC reacts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06D6A0"/>
                </a:solidFill>
                <a:latin typeface="Calibri"/>
              </a:defRPr>
            </a:pPr>
            <a:r>
              <a:t>EWMA Delay Filter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  avg = (1−α)×avg + α×sample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  α = 0.0125 (1.25%)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~80 ACK samples to 63% convergence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Separates per-packet noise from trend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200" b="1">
                <a:solidFill>
                  <a:srgbClr val="FFD166"/>
                </a:solidFill>
                <a:latin typeface="Calibri"/>
              </a:defRPr>
            </a:pPr>
            <a:r>
              <a:t>Three Special Cases: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No ECN + high delay:</a:t>
            </a:r>
          </a:p>
          <a:p>
            <a:pPr lvl="1">
              <a:spcBef>
                <a:spcPts val="400"/>
              </a:spcBef>
              <a:defRPr sz="1700" b="0">
                <a:solidFill>
                  <a:srgbClr val="BBBBCC"/>
                </a:solidFill>
                <a:latin typeface="Calibri"/>
              </a:defRPr>
            </a:pPr>
            <a:r>
              <a:t>  → Discount to base_rtt × 0.25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  (avoid false positives from path noise)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ECN marked:</a:t>
            </a:r>
          </a:p>
          <a:p>
            <a:pPr lvl="1">
              <a:spcBef>
                <a:spcPts val="400"/>
              </a:spcBef>
              <a:defRPr sz="1700" b="0">
                <a:solidFill>
                  <a:srgbClr val="BBBBCC"/>
                </a:solidFill>
                <a:latin typeface="Calibri"/>
              </a:defRPr>
            </a:pPr>
            <a:r>
              <a:t>  → Trust full sample (confirmed signal)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Low delay:</a:t>
            </a:r>
          </a:p>
          <a:p>
            <a:pPr lvl="1">
              <a:spcBef>
                <a:spcPts val="400"/>
              </a:spcBef>
              <a:defRPr sz="1700" b="0">
                <a:solidFill>
                  <a:srgbClr val="BBBBCC"/>
                </a:solidFill>
                <a:latin typeface="Calibri"/>
              </a:defRPr>
            </a:pPr>
            <a:r>
              <a:t>  → Trust sample (good news is real)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Target Delay: The Decision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FF9900"/>
                </a:solidFill>
                <a:latin typeface="Calibri"/>
              </a:defRPr>
            </a:pPr>
            <a:r>
              <a:t>How target_Qdelay is determined: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Priority 1: CLI flag -target_q_delay (explicit override)</a:t>
            </a:r>
          </a:p>
          <a:p>
            <a:pPr>
              <a:spcBef>
                <a:spcPts val="4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Priority 2: 0.75 × network_rtt   (with trimming enabled)</a:t>
            </a:r>
          </a:p>
          <a:p>
            <a:pPr>
              <a:spcBef>
                <a:spcPts val="4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Priority 3: 1.0 × network_rtt    (without trimming)</a:t>
            </a:r>
          </a:p>
          <a:p>
            <a:pPr algn="l">
              <a:spcBef>
                <a:spcPts val="12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400" b="1">
                <a:solidFill>
                  <a:srgbClr val="FF9900"/>
                </a:solidFill>
                <a:latin typeface="Calibri"/>
              </a:defRPr>
            </a:pPr>
            <a:r>
              <a:t>Why target_Qdelay matters:</a:t>
            </a:r>
          </a:p>
          <a:p>
            <a:pPr>
              <a:spcBef>
                <a:spcPts val="4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Below target → Q1: proportional increase (seek more bandwidth)</a:t>
            </a:r>
          </a:p>
          <a:p>
            <a:pPr>
              <a:spcBef>
                <a:spcPts val="4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Above target → Q0: fair increase only (be conservative)</a:t>
            </a:r>
          </a:p>
          <a:p>
            <a:pPr>
              <a:spcBef>
                <a:spcPts val="4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Above target + trim → Q2: decrease (back off)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000" b="1">
                <a:solidFill>
                  <a:srgbClr val="FFD166"/>
                </a:solidFill>
                <a:latin typeface="Calibri"/>
              </a:defRPr>
            </a:pPr>
            <a:r>
              <a:t>It's the equilibrium point — at target, increases taper to zero</a:t>
            </a:r>
          </a:p>
          <a:p>
            <a:pPr algn="l">
              <a:spcBef>
                <a:spcPts val="200"/>
              </a:spcBef>
              <a:defRPr sz="2000" b="0">
                <a:solidFill>
                  <a:srgbClr val="FFD166"/>
                </a:solidFill>
                <a:latin typeface="Calibri"/>
              </a:defRPr>
            </a:pPr>
            <a:r>
              <a:t>and decreases are minimal. The system is in balance.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5. Quick-Adapt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Calibri"/>
              </a:defRPr>
            </a:pPr>
            <a:r>
              <a:t>The emergency brake for incast and topology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Quick-Adapt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EF476F"/>
                </a:solidFill>
                <a:latin typeface="Calibri"/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32:1 incast: queue fills in &lt; 1 μs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Iterative multiplicative decrease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  takes 5-10 RTTs to converge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By then, buffers overflow → packet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06D6A0"/>
                </a:solidFill>
                <a:latin typeface="Calibri"/>
              </a:defRPr>
            </a:pPr>
            <a:r>
              <a:t>The Solution: Measure &amp; Clamp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Track achieved_bytes per RTT window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If achieved &lt;&lt; maxwnd → window is inflated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Action: cwnd = achieved_bytes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One-shot: converge in 1 RTT, not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Bef>
                <a:spcPts val="800"/>
              </a:spcBef>
              <a:defRPr sz="2200" b="1">
                <a:solidFill>
                  <a:srgbClr val="FF9900"/>
                </a:solidFill>
                <a:latin typeface="Calibri"/>
              </a:defRPr>
            </a:pPr>
            <a:r>
              <a:t>Three Trigger Conditions (ALL required)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① Time window expired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onsolas"/>
              </a:defRPr>
            </a:pPr>
            <a:r>
              <a:t>    now &gt; qa_endtime  (1 RTT + target_Qdelay)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② Congestion signal present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onsolas"/>
              </a:defRPr>
            </a:pPr>
            <a:r>
              <a:t>    NACK received  OR  loss  OR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onsolas"/>
              </a:defRPr>
            </a:pPr>
            <a:r>
              <a:t>    delay &gt; 4 × target_Qdelay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③ The Gate Check (qa_gate)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onsolas"/>
              </a:defRPr>
            </a:pPr>
            <a:r>
              <a:t>    achieved_bytes &lt; maxwnd &gt;&gt; qa_gate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0">
                <a:solidFill>
                  <a:srgbClr val="00B4D8"/>
                </a:solidFill>
                <a:latin typeface="Calibri"/>
              </a:defRPr>
            </a:pPr>
            <a:r>
              <a:t>qa_gate=1 → threshold=maxwnd/2 (easy)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00B4D8"/>
                </a:solidFill>
                <a:latin typeface="Calibri"/>
              </a:defRPr>
            </a:pPr>
            <a:r>
              <a:t>qa_gate=2 → threshold=maxwnd/4 (default)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00B4D8"/>
                </a:solidFill>
                <a:latin typeface="Calibri"/>
              </a:defRPr>
            </a:pPr>
            <a:r>
              <a:t>qa_gate=3 → threshold=maxwnd/8 (strict)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6. Packet Spraying &amp; Load Balancing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Calibri"/>
              </a:defRPr>
            </a:pPr>
            <a:r>
              <a:t>Steer first, throttle second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Multi-Path Load Balancing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FF9900"/>
                </a:solidFill>
                <a:latin typeface="Calibri"/>
              </a:defRPr>
            </a:pPr>
            <a:r>
              <a:t>Path Selection Strategies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Oblivious: Round-robin with XOR permutation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Bitmap: Penalty score per path, skip bad paths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REPS: Recycle good paths, remove bad ones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Mixed: Hybrid approach</a:t>
            </a:r>
          </a:p>
          <a:p>
            <a:pPr algn="l">
              <a:spcBef>
                <a:spcPts val="12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400" b="1">
                <a:solidFill>
                  <a:srgbClr val="FF9900"/>
                </a:solidFill>
                <a:latin typeface="Calibri"/>
              </a:defRPr>
            </a:pPr>
            <a:r>
              <a:t>Feedback Integration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PATH_ECN → penalize path (congested)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PATH_NACK → heavy penalty (fabric trim)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PATH_GOOD → reward path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PATH_TIMEOUT → maximum penalty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5029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06D6A0"/>
                </a:solidFill>
                <a:latin typeface="Calibri"/>
              </a:defRPr>
            </a:pPr>
            <a:r>
              <a:t>Q3: The NOOP Quadrant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ECN/Trim + Low Delay = path problem, not load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200" b="1">
                <a:solidFill>
                  <a:srgbClr val="FFD166"/>
                </a:solidFill>
                <a:latin typeface="Calibri"/>
              </a:defRPr>
            </a:pPr>
            <a:r>
              <a:t>Don't reduce CWND!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Instead: penalize path, steer traffic away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The sender has enough capacity overall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Just one path is hot → reroute</a:t>
            </a:r>
          </a:p>
          <a:p>
            <a:pPr algn="l">
              <a:spcBef>
                <a:spcPts val="12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200" b="1">
                <a:solidFill>
                  <a:srgbClr val="00B4D8"/>
                </a:solidFill>
                <a:latin typeface="Calibri"/>
              </a:defRPr>
            </a:pPr>
            <a:r>
              <a:t>5-Step Timeline: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1. Collision on one path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2. ECN mark arrives at sender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3. Load balancer reroutes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4. If resolved → done (no CWND change)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5. If persists → delay rises → Q2 kicks 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7. Parameter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Calibri"/>
              </a:defRPr>
            </a:pPr>
            <a:r>
              <a:t>Same algorithm at 100G, 400G, 800G — no retuning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BDP-Ratio Scaling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200" b="1">
                <a:solidFill>
                  <a:srgbClr val="FFD166"/>
                </a:solidFill>
                <a:latin typeface="Calibri"/>
              </a:defRPr>
            </a:pPr>
            <a:r>
              <a:t>Reference Network: 100 Gbps, 12 μs RTT → BDP = 150 KB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  scale_a = network_BDP / reference_BDP       (capacity ratio)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  scale_b = target_Qdelay / reference_RTT     (delay ratio)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400"/>
              </a:spcBef>
              <a:defRPr sz="2200" b="1">
                <a:solidFill>
                  <a:srgbClr val="00B4D8"/>
                </a:solidFill>
                <a:latin typeface="Calibri"/>
              </a:defRPr>
            </a:pPr>
            <a:r>
              <a:t>Parameter Derivation Table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defRPr sz="1400" b="0">
                <a:solidFill>
                  <a:srgbClr val="BBBBCC"/>
                </a:solidFill>
                <a:latin typeface="Consolas"/>
              </a:defRPr>
            </a:pPr>
            <a:r>
              <a:t>  Parameter      Formula                                  100G/12μs   400G/12μs   800G/6μs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BBBBCC"/>
                </a:solidFill>
                <a:latin typeface="Consolas"/>
              </a:defRPr>
            </a:pPr>
            <a:r>
              <a:t>  ─────────────  ───────────────────────────────────────── ─────────── ─────────── ──────────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BBBBCC"/>
                </a:solidFill>
                <a:latin typeface="Consolas"/>
              </a:defRPr>
            </a:pPr>
            <a:r>
              <a:t>  α (prop inc)   4 × MSS × scale_a × scale_b / target_Q  0.49 B/ps²  1.96        1.96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BBBBCC"/>
                </a:solidFill>
                <a:latin typeface="Consolas"/>
              </a:defRPr>
            </a:pPr>
            <a:r>
              <a:t>  fi (fair inc)  5 × MSS × scale_a                        7500 B      30000       30000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BBBBCC"/>
                </a:solidFill>
                <a:latin typeface="Consolas"/>
              </a:defRPr>
            </a:pPr>
            <a:r>
              <a:t>  η (liveness)   0.15 × MSS × scale_a                     225 B       900         900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BBBBCC"/>
                </a:solidFill>
                <a:latin typeface="Consolas"/>
              </a:defRPr>
            </a:pPr>
            <a:r>
              <a:t>  γ (decrease)   0.8 (constant)                            0.8         0.8         0.8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BBBBCC"/>
                </a:solidFill>
                <a:latin typeface="Consolas"/>
              </a:defRPr>
            </a:pPr>
            <a:r>
              <a:t>  maxwnd         1.5 × BDP                                 225 KB      900 KB      450 KB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8. SLEEK Loss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Calibri"/>
              </a:defRPr>
            </a:pPr>
            <a:r>
              <a:t>Why TCP's 3-DupACK fails with packet spraying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SLEEK: Reordering-Tolerant Loss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EF476F"/>
                </a:solidFill>
                <a:latin typeface="Calibri"/>
              </a:defRPr>
            </a:pPr>
            <a:r>
              <a:t>Problem: Spraying = Reordering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Packets take different fabric paths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Arrive out-of-order routinely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TCP: 3 out-of-order → assume loss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With 64-way spray: nearly every ACK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triggers false retransmission!</a:t>
            </a:r>
          </a:p>
          <a:p>
            <a:pPr algn="l">
              <a:spcBef>
                <a:spcPts val="12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400" b="1">
                <a:solidFill>
                  <a:srgbClr val="06D6A0"/>
                </a:solidFill>
                <a:latin typeface="Calibri"/>
              </a:defRPr>
            </a:pPr>
            <a:r>
              <a:t>SLEEK Threshold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  thresh = min(1.5×cwnd,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              max(5×MSS, ...))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~225 OOO packets with 600KB window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vs TCP's fixed 3!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5029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00B4D8"/>
                </a:solidFill>
                <a:latin typeface="Calibri"/>
              </a:defRPr>
            </a:pPr>
            <a:r>
              <a:t>SLEEK Probe Mechanism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Explicit probes: "did you receive everything?"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Fast probe ACK → loss confirmed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Slow probe ACK → ambiguous (wait)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400" b="1">
                <a:solidFill>
                  <a:srgbClr val="00B4D8"/>
                </a:solidFill>
                <a:latin typeface="Calibri"/>
              </a:defRPr>
            </a:pPr>
            <a:r>
              <a:t>RTO Safety Net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  min_rto = 15μs + queue_drain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         × 6_hops × 8 / linkspeed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Example: 315 μs at 100G (~25× base RTT)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SLEEK is primary, RTO is backup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400" b="1">
                <a:solidFill>
                  <a:srgbClr val="00B4D8"/>
                </a:solidFill>
                <a:latin typeface="Calibri"/>
              </a:defRPr>
            </a:pPr>
            <a:r>
              <a:t>64-bit SACK Bitmap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Tracks 64 packets after reference seqno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Efficiently communicates gaps to sender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Much richer feedback than TCP's 3 SACK blocks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9. NSCC vs TCP Cubic vs DCQCN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Calibri"/>
              </a:defRPr>
            </a:pPr>
            <a:r>
              <a:t>Three philosophies for the same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Design Philosophy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530352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8B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Bef>
                <a:spcPts val="600"/>
              </a:spcBef>
              <a:defRPr sz="2400" b="1">
                <a:solidFill>
                  <a:srgbClr val="8B2020"/>
                </a:solidFill>
                <a:latin typeface="Calibri"/>
              </a:defRPr>
            </a:pPr>
            <a:r>
              <a:t>TCP Cubic</a:t>
            </a: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Probe &amp; Back Off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Increase until loss,</a:t>
            </a: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then cut 30%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Signal: packet loss</a:t>
            </a: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Shape: sawtooth</a:t>
            </a: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Pacing: window-based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D166"/>
                </a:solidFill>
                <a:latin typeface="Calibri"/>
              </a:defRPr>
            </a:pPr>
            <a:r>
              <a:t>Assumes: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Single path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Deep buffers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Loss = congestion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D166"/>
                </a:solidFill>
                <a:latin typeface="Calibri"/>
              </a:defRPr>
            </a:pPr>
            <a:r>
              <a:t>Strengths: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Simple, well-understood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Works everywhere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Self-clocking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188720"/>
            <a:ext cx="3474720" cy="530352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Bef>
                <a:spcPts val="600"/>
              </a:spcBef>
              <a:defRPr sz="2400" b="1">
                <a:solidFill>
                  <a:srgbClr val="3A6B35"/>
                </a:solidFill>
                <a:latin typeface="Calibri"/>
              </a:defRPr>
            </a:pPr>
            <a:r>
              <a:t>DCQCN</a:t>
            </a: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Rate Staircase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ECN triggers CNP,</a:t>
            </a: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which steps down rate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Signal: ECN marks</a:t>
            </a: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Shape: staircase</a:t>
            </a: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Pacing: rate-based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D166"/>
                </a:solidFill>
                <a:latin typeface="Calibri"/>
              </a:defRPr>
            </a:pPr>
            <a:r>
              <a:t>Assumes: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Lossless fabric (PFC)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ECN thresholds tuned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Timer-driven (55 μs)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D166"/>
                </a:solidFill>
                <a:latin typeface="Calibri"/>
              </a:defRPr>
            </a:pPr>
            <a:r>
              <a:t>Strengths: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Hardware-friendly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No reordering issue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Predictable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188720"/>
            <a:ext cx="3474720" cy="530352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Bef>
                <a:spcPts val="600"/>
              </a:spcBef>
              <a:defRPr sz="2400" b="1">
                <a:solidFill>
                  <a:srgbClr val="006D77"/>
                </a:solidFill>
                <a:latin typeface="Calibri"/>
              </a:defRPr>
            </a:pPr>
            <a:r>
              <a:t>NSCC</a:t>
            </a: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Proportional Control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Response scales with</a:t>
            </a: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congestion magnitude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Signal: delay + ECN</a:t>
            </a: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Shape: smooth curves</a:t>
            </a:r>
          </a:p>
          <a:p>
            <a:pPr algn="ctr">
              <a:spcBef>
                <a:spcPts val="2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Pacing: window + credit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D166"/>
                </a:solidFill>
                <a:latin typeface="Calibri"/>
              </a:defRPr>
            </a:pPr>
            <a:r>
              <a:t>Assumes: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Multi-path fabric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Shallow buffers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Trimming available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D166"/>
                </a:solidFill>
                <a:latin typeface="Calibri"/>
              </a:defRPr>
            </a:pPr>
            <a:r>
              <a:t>Strengths: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Fast convergence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Native multi-path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• Incast-resilient (QA)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10. Simulation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Calibri"/>
              </a:defRPr>
            </a:pPr>
            <a:r>
              <a:t>What the numbers tell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Key Simulation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06D6A0"/>
                </a:solidFill>
                <a:latin typeface="Calibri"/>
              </a:defRPr>
            </a:pPr>
            <a:r>
              <a:t>Fairness Convergence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8-128 NSCC flows → JFI ≈ 1.000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Converges within 5-10 RTTs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Division by cwnd ensures equal share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400" b="1">
                <a:solidFill>
                  <a:srgbClr val="EF476F"/>
                </a:solidFill>
                <a:latin typeface="Calibri"/>
              </a:defRPr>
            </a:pPr>
            <a:r>
              <a:t>NSCC vs TCP Cubic Coexistence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DCQCN vs Cubic: 27%/73% (JFI=0.826)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  DCQCN too TCP-friendly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NSCC vs Cubic: 95%/5% (JFI=0.553)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  NSCC starves TCP without tuning</a:t>
            </a:r>
          </a:p>
          <a:p>
            <a:pPr>
              <a:spcBef>
                <a:spcPts val="400"/>
              </a:spcBef>
              <a:defRPr sz="2000" b="1">
                <a:solidFill>
                  <a:srgbClr val="FFD166"/>
                </a:solidFill>
                <a:latin typeface="Calibri"/>
              </a:defRPr>
            </a:pPr>
            <a:r>
              <a:t>Key lever: qa_gate + target_Qdelay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5029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400" b="1">
                <a:solidFill>
                  <a:srgbClr val="FF9900"/>
                </a:solidFill>
                <a:latin typeface="Calibri"/>
              </a:defRPr>
            </a:pPr>
            <a:r>
              <a:t>Incast Scaling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2:1 to 128:1 incast tested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Quick-Adapt critical beyond 16:1</a:t>
            </a:r>
          </a:p>
          <a:p>
            <a:pPr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Without QA: completion rate drops to ~60%</a:t>
            </a:r>
          </a:p>
          <a:p>
            <a:pPr>
              <a:spcBef>
                <a:spcPts val="400"/>
              </a:spcBef>
              <a:defRPr sz="1800" b="0">
                <a:solidFill>
                  <a:srgbClr val="06D6A0"/>
                </a:solidFill>
                <a:latin typeface="Calibri"/>
              </a:defRPr>
            </a:pPr>
            <a:r>
              <a:t>With QA: completion rate stays &gt; 98%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400" b="1">
                <a:solidFill>
                  <a:srgbClr val="FF9900"/>
                </a:solidFill>
                <a:latin typeface="Calibri"/>
              </a:defRPr>
            </a:pPr>
            <a:r>
              <a:t>QA Gate Sensitivity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qa_gate=1: more aggressive → better fairness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  but higher variance across seeds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qa_gate=3: more stable throughput</a:t>
            </a:r>
          </a:p>
          <a:p>
            <a:pPr lvl="1">
              <a:spcBef>
                <a:spcPts val="400"/>
              </a:spcBef>
              <a:defRPr sz="1800" b="0">
                <a:solidFill>
                  <a:srgbClr val="BBBBCC"/>
                </a:solidFill>
                <a:latin typeface="Calibri"/>
              </a:defRPr>
            </a:pPr>
            <a:r>
              <a:t>  but can starve TCP in mixed traffic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qa_gate=2: recommended middle ground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11.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Calibri"/>
              </a:defRPr>
            </a:pPr>
            <a:r>
              <a:t>Design philosophy and lessons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NSCC Design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166"/>
                </a:solidFill>
                <a:latin typeface="Calibri"/>
              </a:defRPr>
            </a:pPr>
            <a:r>
              <a:t>Proportional Response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BBBBCC"/>
                </a:solidFill>
                <a:latin typeface="Calibri"/>
              </a:defRPr>
            </a:pPr>
            <a:r>
              <a:t>Both increase and decrease scale continuously with congestion magnitude. At equilibrium, both → 0.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48839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166"/>
                </a:solidFill>
                <a:latin typeface="Calibri"/>
              </a:defRPr>
            </a:pPr>
            <a:r>
              <a:t>Dual-Signal Architecture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BBBBCC"/>
                </a:solidFill>
                <a:latin typeface="Calibri"/>
              </a:defRPr>
            </a:pPr>
            <a:r>
              <a:t>Delay provides magnitude (how bad?), ECN provides location (which path?). Together: informed decisions.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063239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166"/>
                </a:solidFill>
                <a:latin typeface="Calibri"/>
              </a:defRPr>
            </a:pPr>
            <a:r>
              <a:t>Steer First, Throttle Second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BBBBCC"/>
                </a:solidFill>
                <a:latin typeface="Calibri"/>
              </a:defRPr>
            </a:pPr>
            <a:r>
              <a:t>Q3 reroutes traffic before cutting the window. Path diversity is the first line of defense.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977639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166"/>
                </a:solidFill>
                <a:latin typeface="Calibri"/>
              </a:defRPr>
            </a:pPr>
            <a:r>
              <a:t>Measure Don't Guess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BBBBCC"/>
                </a:solidFill>
                <a:latin typeface="Calibri"/>
              </a:defRPr>
            </a:pPr>
            <a:r>
              <a:t>Quick-Adapt sets cwnd = achieved_bytes. Don't iterate toward the right answer — observe and clamp.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89204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46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166"/>
                </a:solidFill>
                <a:latin typeface="Calibri"/>
              </a:defRPr>
            </a:pPr>
            <a:r>
              <a:t>Scale by BDP Ratio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BBBBCC"/>
                </a:solidFill>
                <a:latin typeface="Calibri"/>
              </a:defRPr>
            </a:pPr>
            <a:r>
              <a:t>All parameters derived from reference network via scale_a/scale_b. Same algorithm at any speed.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80644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760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166"/>
                </a:solidFill>
                <a:latin typeface="Calibri"/>
              </a:defRPr>
            </a:pPr>
            <a:r>
              <a:t>Batch for Fairness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BBBBCC"/>
                </a:solidFill>
                <a:latin typeface="Calibri"/>
              </a:defRPr>
            </a:pPr>
            <a:r>
              <a:t>Fulfill adjustment: inc_bytes/cwnd means small windows grow faster. Converges to equal share.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Anatomy of One ACK: 7 Subsystem Trace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640080" y="1188720"/>
            <a:ext cx="502920" cy="502920"/>
          </a:xfrm>
          <a:prstGeom prst="chevron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B4D8"/>
                </a:solidFill>
                <a:latin typeface="Calibri"/>
              </a:defRPr>
            </a:pPr>
            <a:r>
              <a:t>ACK Arrives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onsolas"/>
              </a:defRPr>
            </a:pPr>
            <a:r>
              <a:t>Extract cum_ack, recvd_bytes, ECN echo, RTT timestamp</a:t>
            </a:r>
          </a:p>
        </p:txBody>
      </p:sp>
      <p:sp>
        <p:nvSpPr>
          <p:cNvPr id="6" name="Chevron 5"/>
          <p:cNvSpPr/>
          <p:nvPr/>
        </p:nvSpPr>
        <p:spPr>
          <a:xfrm>
            <a:off x="640080" y="1965960"/>
            <a:ext cx="502920" cy="502920"/>
          </a:xfrm>
          <a:prstGeom prst="chevron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90E0EF"/>
                </a:solidFill>
                <a:latin typeface="Calibri"/>
              </a:defRPr>
            </a:pPr>
            <a:r>
              <a:t>Update Flight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onsolas"/>
              </a:defRPr>
            </a:pPr>
            <a:r>
              <a:t>_in_flight -= newly_acked; _achieved_bytes += newly_acked</a:t>
            </a:r>
          </a:p>
        </p:txBody>
      </p:sp>
      <p:sp>
        <p:nvSpPr>
          <p:cNvPr id="8" name="Chevron 7"/>
          <p:cNvSpPr/>
          <p:nvPr/>
        </p:nvSpPr>
        <p:spPr>
          <a:xfrm>
            <a:off x="640080" y="2743200"/>
            <a:ext cx="502920" cy="502920"/>
          </a:xfrm>
          <a:prstGeom prst="chevron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97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6D6A0"/>
                </a:solidFill>
                <a:latin typeface="Calibri"/>
              </a:defRPr>
            </a:pPr>
            <a:r>
              <a:t>RTT Sample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onsolas"/>
              </a:defRPr>
            </a:pPr>
            <a:r>
              <a:t>raw_rtt = now − sent_time; update base_rtt if new min</a:t>
            </a:r>
          </a:p>
        </p:txBody>
      </p:sp>
      <p:sp>
        <p:nvSpPr>
          <p:cNvPr id="10" name="Chevron 9"/>
          <p:cNvSpPr/>
          <p:nvPr/>
        </p:nvSpPr>
        <p:spPr>
          <a:xfrm>
            <a:off x="640080" y="3520439"/>
            <a:ext cx="502920" cy="502920"/>
          </a:xfrm>
          <a:prstGeom prst="chevron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D166"/>
                </a:solidFill>
                <a:latin typeface="Calibri"/>
              </a:defRPr>
            </a:pPr>
            <a:r>
              <a:t>Delay Filter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onsolas"/>
              </a:defRPr>
            </a:pPr>
            <a:r>
              <a:t>qdelay = raw_rtt − base_rtt; avg_delay EWMA update</a:t>
            </a:r>
          </a:p>
        </p:txBody>
      </p:sp>
      <p:sp>
        <p:nvSpPr>
          <p:cNvPr id="12" name="Chevron 11"/>
          <p:cNvSpPr/>
          <p:nvPr/>
        </p:nvSpPr>
        <p:spPr>
          <a:xfrm>
            <a:off x="640080" y="4297680"/>
            <a:ext cx="502920" cy="502920"/>
          </a:xfrm>
          <a:prstGeom prst="chevron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51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9900"/>
                </a:solidFill>
                <a:latin typeface="Calibri"/>
              </a:defRPr>
            </a:pPr>
            <a:r>
              <a:t>Quick-Adapt?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onsolas"/>
              </a:defRPr>
            </a:pPr>
            <a:r>
              <a:t>Check 3 conditions; if all met: cwnd = achieved_bytes → return</a:t>
            </a:r>
          </a:p>
        </p:txBody>
      </p:sp>
      <p:sp>
        <p:nvSpPr>
          <p:cNvPr id="14" name="Chevron 13"/>
          <p:cNvSpPr/>
          <p:nvPr/>
        </p:nvSpPr>
        <p:spPr>
          <a:xfrm>
            <a:off x="640080" y="5074920"/>
            <a:ext cx="502920" cy="502920"/>
          </a:xfrm>
          <a:prstGeom prst="chevron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EF476F"/>
                </a:solidFill>
                <a:latin typeface="Calibri"/>
              </a:defRPr>
            </a:pPr>
            <a:r>
              <a:t>Quadrant CC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onsolas"/>
              </a:defRPr>
            </a:pPr>
            <a:r>
              <a:t>Q0/Q1/Q2/Q3 based on (delay vs target) × (trim vs no-trim)</a:t>
            </a:r>
          </a:p>
        </p:txBody>
      </p:sp>
      <p:sp>
        <p:nvSpPr>
          <p:cNvPr id="16" name="Chevron 15"/>
          <p:cNvSpPr/>
          <p:nvPr/>
        </p:nvSpPr>
        <p:spPr>
          <a:xfrm>
            <a:off x="640080" y="5852159"/>
            <a:ext cx="502920" cy="502920"/>
          </a:xfrm>
          <a:prstGeom prst="chevron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806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BB86FC"/>
                </a:solidFill>
                <a:latin typeface="Calibri"/>
              </a:defRPr>
            </a:pPr>
            <a:r>
              <a:t>Fulfill?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BBBBCC"/>
                </a:solidFill>
                <a:latin typeface="Consolas"/>
              </a:defRPr>
            </a:pPr>
            <a:r>
              <a:t>If received &gt; 8×MTU or time &gt; RTT: cwnd += inc/cwnd + η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When to Use NSCC (and When Not To)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1A3A1A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Bef>
                <a:spcPts val="800"/>
              </a:spcBef>
              <a:defRPr sz="2600" b="1">
                <a:solidFill>
                  <a:srgbClr val="06D6A0"/>
                </a:solidFill>
                <a:latin typeface="Calibri"/>
              </a:defRPr>
            </a:pPr>
            <a:r>
              <a:t>  NSCC Shines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Multi-path fabrics (Clos, fat-tree)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  Native spray + path steering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Shallow-buffer switches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  Proportional decrease avoids overflow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Mixed traffic patterns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  Fairness convergence via /cwnd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Incast workloads (many-to-one)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  Quick-Adapt handles 128:1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High-speed links (100G-800G)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  BDP-ratio scaling, no retuning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3A1A1A"/>
          </a:solidFill>
          <a:ln w="254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Bef>
                <a:spcPts val="800"/>
              </a:spcBef>
              <a:defRPr sz="2600" b="1">
                <a:solidFill>
                  <a:srgbClr val="EF476F"/>
                </a:solidFill>
                <a:latin typeface="Calibri"/>
              </a:defRPr>
            </a:pPr>
            <a:r>
              <a:t>  NSCC Struggles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Single-path networks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  No Q3 path diversity benefit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Unknown base RTT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  Bad zero-point → bad delay estimates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Very deep buffers (&gt; 1 ms)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  Delay signal arrives too late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Coexistence with TCP (untuned)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  NSCC dominates without careful qa_gate</a:t>
            </a:r>
          </a:p>
          <a:p>
            <a:pPr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WAN / high-latency paths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  Designed for datacenter RTT scales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4D8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112772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</a:p>
          <a:p>
            <a:pPr algn="ctr">
              <a:spcBef>
                <a:spcPts val="800"/>
              </a:spcBef>
              <a:defRPr sz="1800" b="1">
                <a:solidFill>
                  <a:srgbClr val="00B4D8"/>
                </a:solidFill>
                <a:latin typeface="Calibri"/>
              </a:defRPr>
            </a:pPr>
            <a:r>
              <a:t>References</a:t>
            </a:r>
          </a:p>
          <a:p>
            <a:pPr algn="ctr">
              <a:spcBef>
                <a:spcPts val="4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UET Spec  •  SMaRTT-REPS  •  DCTCP (Alizadeh et al.)  •  TCP Cubic (Ha et al.)</a:t>
            </a:r>
          </a:p>
          <a:p>
            <a:pPr algn="ctr">
              <a:spcBef>
                <a:spcPts val="2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DCQCN (Zhu et al.)  •  TIMELY (Mittal et al.)  •  Swift (Kumar et al.)</a:t>
            </a:r>
          </a:p>
          <a:p>
            <a:pPr algn="ctr">
              <a:spcBef>
                <a:spcPts val="6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htsim2 Simulator: github.com/uet-htsim2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